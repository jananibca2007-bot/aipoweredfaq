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72" y="-1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33400" y="1685478"/>
            <a:ext cx="11125200" cy="1743967"/>
          </a:xfrm>
          <a:prstGeom prst="roundRect">
            <a:avLst>
              <a:gd name="adj" fmla="val 655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675167" y="457200"/>
            <a:ext cx="1983432" cy="304800"/>
          </a:xfrm>
          <a:prstGeom prst="roundRect">
            <a:avLst>
              <a:gd name="adj" fmla="val 18750"/>
            </a:avLst>
          </a:prstGeom>
          <a:solidFill>
            <a:srgbClr val="E0F2FE"/>
          </a:solidFill>
          <a:ln w="9525">
            <a:solidFill>
              <a:srgbClr val="7DD3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181475"/>
            <a:ext cx="6299150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23050" y="4181475"/>
            <a:ext cx="4635549" cy="2219325"/>
          </a:xfrm>
          <a:prstGeom prst="roundRect">
            <a:avLst>
              <a:gd name="adj" fmla="val 429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1525" y="4362450"/>
            <a:ext cx="5822900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1525" y="4591050"/>
            <a:ext cx="5822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1525" y="47148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730525" y="47148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1525" y="52482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30525" y="52482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71525" y="5781675"/>
            <a:ext cx="286375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30525" y="5781675"/>
            <a:ext cx="2863899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61175" y="4362450"/>
            <a:ext cx="4159299" cy="238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261175" y="4714875"/>
            <a:ext cx="4159299" cy="523875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F1F5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61175" y="5334000"/>
            <a:ext cx="4159299" cy="466725"/>
          </a:xfrm>
          <a:prstGeom prst="roundRect">
            <a:avLst>
              <a:gd name="adj" fmla="val 12244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261175" y="4591050"/>
            <a:ext cx="41592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95300"/>
            <a:ext cx="285750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4362450"/>
            <a:ext cx="1905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175" y="4362450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808517" y="514350"/>
            <a:ext cx="181198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Aptos"/>
              </a:rPr>
              <a:t>ACADEMIC YEAR 2025–2026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825" y="1961703"/>
            <a:ext cx="113061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FINAL YEAR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2180778"/>
            <a:ext cx="2667846" cy="398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IN" sz="2550" b="1" dirty="0">
                <a:solidFill>
                  <a:srgbClr val="0F172A"/>
                </a:solidFill>
                <a:latin typeface="Aptos"/>
              </a:rPr>
              <a:t>AI FAQ ASSISTANT</a:t>
            </a:r>
            <a:endParaRPr sz="25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85825" y="2699891"/>
            <a:ext cx="9429750" cy="45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275" b="0" i="0" u="none">
                <a:solidFill>
                  <a:srgbClr val="475569"/>
                </a:solidFill>
                <a:latin typeface="Aptos"/>
              </a:rPr>
              <a:t>A Robust RESTful Backend Architecture for Knowledge Management, Semantic Information Retrieval, and Generative Question-Answering via Google Gemini AI SDK.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3400"/>
            <a:ext cx="2364430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475569"/>
                </a:solidFill>
                <a:latin typeface="Aptos"/>
              </a:rPr>
              <a:t>DEPARTMENT OF COMPUTER </a:t>
            </a:r>
            <a:r>
              <a:rPr lang="en-IN" sz="1050" b="1" dirty="0">
                <a:solidFill>
                  <a:srgbClr val="475569"/>
                </a:solidFill>
                <a:latin typeface="Aptos"/>
              </a:rPr>
              <a:t>SCIENCE</a:t>
            </a:r>
            <a:endParaRPr sz="1050" b="1" i="0" u="none" dirty="0">
              <a:solidFill>
                <a:srgbClr val="475569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38225" y="4362450"/>
            <a:ext cx="205289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PROJECT TEAM DETAILS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1175" y="6086475"/>
            <a:ext cx="156455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Aptos"/>
              </a:rPr>
              <a:t>Evaluation: Final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28385" y="6086475"/>
            <a:ext cx="194123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Aptos"/>
              </a:rPr>
              <a:t>Degree: Bachelor of Computer </a:t>
            </a:r>
            <a:r>
              <a:rPr lang="en-IN" sz="900" dirty="0">
                <a:solidFill>
                  <a:srgbClr val="64748B"/>
                </a:solidFill>
                <a:latin typeface="Aptos"/>
              </a:rPr>
              <a:t>Science</a:t>
            </a:r>
            <a:endParaRPr sz="900" b="0" i="0" u="none" dirty="0">
              <a:solidFill>
                <a:srgbClr val="64748B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5350" y="48006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350" y="4914900"/>
            <a:ext cx="1078821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SWTID-2026-9693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854350" y="48006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LEADER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4350" y="4914900"/>
            <a:ext cx="56425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0F172A"/>
                </a:solidFill>
                <a:latin typeface="Aptos"/>
              </a:rPr>
              <a:t>JANANI R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5350" y="53340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350" y="5448300"/>
            <a:ext cx="11653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334155"/>
                </a:solidFill>
                <a:latin typeface="Aptos"/>
              </a:rPr>
              <a:t>FATHIMA SAFRIN N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854350" y="53340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4350" y="5448300"/>
            <a:ext cx="127278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334155"/>
                </a:solidFill>
                <a:latin typeface="Aptos"/>
              </a:rPr>
              <a:t>HAMITHA FATHIMA K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95350" y="5867400"/>
            <a:ext cx="327012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5350" y="5981700"/>
            <a:ext cx="591509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334155"/>
                </a:solidFill>
                <a:latin typeface="Aptos"/>
              </a:rPr>
              <a:t>GOGILA S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54350" y="5867400"/>
            <a:ext cx="3270312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TEAM MEMBER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4350" y="5981700"/>
            <a:ext cx="596317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050" b="1" i="0" u="none" dirty="0">
                <a:solidFill>
                  <a:srgbClr val="334155"/>
                </a:solidFill>
                <a:latin typeface="Aptos"/>
              </a:rPr>
              <a:t>GOPIKA R</a:t>
            </a:r>
            <a:endParaRPr sz="1050" b="1" i="0" u="none" dirty="0">
              <a:solidFill>
                <a:srgbClr val="334155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89775" y="4362450"/>
            <a:ext cx="225623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Aptos"/>
              </a:rPr>
              <a:t>INSTITUTION INFORMATION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5000" y="4838700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4748B"/>
                </a:solidFill>
                <a:latin typeface="Aptos"/>
              </a:rPr>
              <a:t>COLLEGE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5001" y="4953000"/>
            <a:ext cx="39116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1050" b="1" dirty="0">
                <a:solidFill>
                  <a:srgbClr val="0F172A"/>
                </a:solidFill>
                <a:latin typeface="Aptos"/>
              </a:rPr>
              <a:t>BHARATHIYAR ARTS AND SCIENCE COLLEGE FOR WOMEN, DEVIYAKURICHI</a:t>
            </a:r>
            <a:endParaRPr sz="1050" b="1" i="0" u="none" dirty="0">
              <a:solidFill>
                <a:srgbClr val="0F172A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85000" y="5438775"/>
            <a:ext cx="4806999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PROJECT CLASSIFICATION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5000" y="5553075"/>
            <a:ext cx="4806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Aptos"/>
              </a:rPr>
              <a:t>Full-Stack Node.js / Express / MongoDB / Gemini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67751" y="500955"/>
            <a:ext cx="186704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153025"/>
            <a:ext cx="112776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628900"/>
          </a:xfrm>
          <a:prstGeom prst="roundRect">
            <a:avLst>
              <a:gd name="adj" fmla="val 3623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5325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81387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67450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053512" y="5600700"/>
            <a:ext cx="2443162" cy="695325"/>
          </a:xfrm>
          <a:prstGeom prst="roundRect">
            <a:avLst>
              <a:gd name="adj" fmla="val 1095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5881687"/>
            <a:ext cx="1143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5881687"/>
            <a:ext cx="114300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4912" y="5881687"/>
            <a:ext cx="1143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1392435"/>
            <a:ext cx="3048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1392435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7368" y="5705475"/>
            <a:ext cx="219075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718" y="5705475"/>
            <a:ext cx="19050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2831" y="5705475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9368" y="5705475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1468635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67475" y="1468635"/>
            <a:ext cx="152400" cy="152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982051" y="539055"/>
            <a:ext cx="173369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Problem Definition &amp; Concept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81000"/>
            <a:ext cx="47132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FOUNDATIONAL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2450"/>
            <a:ext cx="4948860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Introduction &amp; Project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325" y="5334000"/>
            <a:ext cx="114966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Aptos"/>
              </a:rPr>
              <a:t>SCENARIO-BASED PRACTICAL WORKFLOW (SUPPORT AUTOMATION LIFECYCLE)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7275" y="1449585"/>
            <a:ext cx="3176959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Aptos"/>
              </a:rPr>
              <a:t>Operational Problem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2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Support Bottlenecks: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Repetitive user inquiries overburden support agents and slow down critical issue resolutions.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22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Manual Authoring Friction: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Customer ops managers struggle to structure, curate, and maintain up-to-date documentation.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722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Information Silos: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Traditional search lacks semantic awareness, failing to match client intent with stored records.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0F172A"/>
                </a:solidFill>
                <a:latin typeface="Aptos"/>
              </a:rPr>
              <a:t>Security Vulnerabilities:</a:t>
            </a:r>
            <a:r>
              <a:rPr sz="1050" b="0" i="0" u="none">
                <a:solidFill>
                  <a:srgbClr val="334155"/>
                </a:solidFill>
                <a:latin typeface="Aptos"/>
              </a:rPr>
              <a:t> Absence of role-guarded endpoints risks unverified data modification and leaks.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91325" y="1449585"/>
            <a:ext cx="289372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4532D"/>
                </a:solidFill>
                <a:latin typeface="Aptos"/>
              </a:rPr>
              <a:t>Proposed Project Objectives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275" y="17924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AI Content Synthesis: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Integrate Google Gemini AI to generate automated, high-precision FAQ pairs and instant answers.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275" y="22687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Stateless Route Guarding: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Implement industry-standard JWT authentication and bcrypt password encryption.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275" y="274498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Strict Schema Integrity: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Enforce Mongoose ODM validation across categories (Technology, Education, Health, Banking, General).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275" y="3221235"/>
            <a:ext cx="5238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14532D"/>
                </a:solidFill>
                <a:latin typeface="Aptos"/>
              </a:rPr>
              <a:t>Decoupled RESTful Engine:</a:t>
            </a:r>
            <a:r>
              <a:rPr sz="1050" b="0" i="0" u="none">
                <a:solidFill>
                  <a:srgbClr val="166534"/>
                </a:solidFill>
                <a:latin typeface="Aptos"/>
              </a:rPr>
              <a:t> Provide high-performance headless endpoints ready for web, mobile, and chatbot integration.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8523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1. Creator Onboarding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8523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Registers with bcrypt &amp; receives signed JWT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4585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2. Gemini Generation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4585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Dispatches topic to Gemini 2.0 Flash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0648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3. Validated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0648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Persists schema in MongoDB with creator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6710" y="5934075"/>
            <a:ext cx="269676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4. Instant Discovery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6710" y="6076950"/>
            <a:ext cx="269676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Aptos"/>
              </a:rPr>
              <a:t>Consumers retrieve solutions via regex/search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941421" y="500955"/>
            <a:ext cx="1793378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192410"/>
            <a:ext cx="5524500" cy="3924300"/>
          </a:xfrm>
          <a:prstGeom prst="roundRect">
            <a:avLst>
              <a:gd name="adj" fmla="val 242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634210" y="1421010"/>
            <a:ext cx="1128414" cy="1905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62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6275" y="19067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62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275" y="26878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2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76275" y="346888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762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6275" y="4249935"/>
            <a:ext cx="38100" cy="6477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98893" y="1421010"/>
            <a:ext cx="1316831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29375" y="19067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29375" y="19067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29375" y="26878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29375" y="26878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29375" y="346888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29375" y="346888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29375" y="4249935"/>
            <a:ext cx="5086350" cy="647700"/>
          </a:xfrm>
          <a:prstGeom prst="roundRect">
            <a:avLst>
              <a:gd name="adj" fmla="val 88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29375" y="4249935"/>
            <a:ext cx="38100" cy="647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421010"/>
            <a:ext cx="190500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1421010"/>
            <a:ext cx="190500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055721" y="539055"/>
            <a:ext cx="1660028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Architectural Advancements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560877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FEASIBILITY &amp; COMPARATIVE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5889212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Existing System vs. Proposed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410" y="1459110"/>
            <a:ext cx="1071264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B91C1C"/>
                </a:solidFill>
                <a:latin typeface="Aptos"/>
              </a:rPr>
              <a:t>LEGACY /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Manual Drafting &amp;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Exact-Match Keyword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6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Session-State Server Overhead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6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Aptos"/>
              </a:rPr>
              <a:t>Monolithic Data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75093" y="1459110"/>
            <a:ext cx="1259681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5803D"/>
                </a:solidFill>
                <a:latin typeface="Aptos"/>
              </a:rPr>
              <a:t>PROPOSED 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2725" y="20020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Gemini 2.0 Flash Automation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2725" y="27830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Optimized Multi-Field Regex &amp; Search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2725" y="356413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Stateless JWT Token Guarding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2725" y="4345185"/>
            <a:ext cx="4914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Aptos"/>
              </a:rPr>
              <a:t>Author-Level Ownership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025" y="1411485"/>
            <a:ext cx="308847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991B1B"/>
                </a:solidFill>
                <a:latin typeface="Aptos"/>
              </a:rPr>
              <a:t>Traditional Support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7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Agents manually type repetitive technical responses, consuming hours of administrative bandwidth.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Inflexible string queries fail when clients use synonyms, colloquial phrasing, or varied vocabulary.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7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Server-stored sessions degrade horizontal scalability and fail to decouple backend logic from frontend UIs.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7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B5563"/>
                </a:solidFill>
                <a:latin typeface="Aptos"/>
              </a:rPr>
              <a:t>Lack of granular ownership checks permits unverified modification or destructive record deletion.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15125" y="1411485"/>
            <a:ext cx="303123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66534"/>
                </a:solidFill>
                <a:latin typeface="Aptos"/>
              </a:rPr>
              <a:t>AnswerBot AI API Platform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00825" y="21734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Generates structured question-answer pairs and contextual answers from raw topic strings in under 1 second.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0825" y="29545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Indexed multi-field search spans questions, answers, and category tags with dynamic fallback.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0825" y="373558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Secure bearer token verification with Bcrypt 10-round salted password hashing guarantees session integrity.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0825" y="4516635"/>
            <a:ext cx="4876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74151"/>
                </a:solidFill>
                <a:latin typeface="Aptos"/>
              </a:rPr>
              <a:t>Mongoose relational foreign keys restrict document updates and deletions strictly to the creating author.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59603" y="500955"/>
            <a:ext cx="1575196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192410"/>
            <a:ext cx="11277600" cy="1706760"/>
          </a:xfrm>
          <a:prstGeom prst="roundRect">
            <a:avLst>
              <a:gd name="adj" fmla="val 558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5501729"/>
            <a:ext cx="3657600" cy="97527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5325" y="1392435"/>
            <a:ext cx="1769864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4618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28319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10450" y="1392435"/>
            <a:ext cx="1901130" cy="1306710"/>
          </a:xfrm>
          <a:prstGeom prst="roundRect">
            <a:avLst>
              <a:gd name="adj" fmla="val 5831"/>
            </a:avLst>
          </a:prstGeom>
          <a:solidFill>
            <a:srgbClr val="FFFFFF"/>
          </a:solidFill>
          <a:ln w="952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692580" y="1392435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92580" y="1859160"/>
            <a:ext cx="1803796" cy="390525"/>
          </a:xfrm>
          <a:prstGeom prst="roundRect">
            <a:avLst>
              <a:gd name="adj" fmla="val 14634"/>
            </a:avLst>
          </a:prstGeom>
          <a:solidFill>
            <a:srgbClr val="F0F9F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8675" y="1525785"/>
            <a:ext cx="1503164" cy="209550"/>
          </a:xfrm>
          <a:prstGeom prst="roundRect">
            <a:avLst>
              <a:gd name="adj" fmla="val 18181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7001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52144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34275" y="1516260"/>
            <a:ext cx="1653480" cy="209550"/>
          </a:xfrm>
          <a:prstGeom prst="roundRect">
            <a:avLst>
              <a:gd name="adj" fmla="val 18181"/>
            </a:avLst>
          </a:prstGeom>
          <a:solidFill>
            <a:srgbClr val="0369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489" y="1969591"/>
            <a:ext cx="1524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19" y="1969591"/>
            <a:ext cx="1524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0" y="1969591"/>
            <a:ext cx="15240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5880" y="1969591"/>
            <a:ext cx="15240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5" y="5654129"/>
            <a:ext cx="152400" cy="1333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0075" y="5654129"/>
            <a:ext cx="13335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075" y="5654129"/>
            <a:ext cx="114300" cy="1333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8305" y="1487685"/>
            <a:ext cx="104775" cy="1047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8305" y="1954410"/>
            <a:ext cx="95250" cy="1047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73903" y="539055"/>
            <a:ext cx="1441846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Layered RESTful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81000"/>
            <a:ext cx="60556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ENGINEERING BLUEPRINT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2450"/>
            <a:ext cx="635841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Architecture &amp; Layered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075" y="5644604"/>
            <a:ext cx="4425553" cy="152400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Decoupled MVC Layout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Headless backend design where routes act as API view mappers, controllers handle orchestration, and Mongoose defines strict data schemas.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075" y="5644604"/>
            <a:ext cx="4425553" cy="1524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Cross-Cutting Concerns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Integrated CORS headers, sanitized environment keys via dotenv, and global promise rejection monitors safeguarding against process crashes.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075" y="5644604"/>
            <a:ext cx="3971925" cy="15240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Aptos"/>
              </a:rPr>
              <a:t>Async Non-Blocking I/O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075" y="5854154"/>
            <a:ext cx="3467100" cy="47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475569"/>
                </a:solidFill>
                <a:latin typeface="Aptos"/>
              </a:rPr>
              <a:t>Native Node.js async/await syntax handling concurrent Gemini API requests and MongoDB reads without thread blocking or latency spikes.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" y="2451496"/>
            <a:ext cx="1878955" cy="1143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Aptos"/>
              </a:rPr>
              <a:t>JSON / HTTP 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001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src/app.js &amp; server.js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2144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authMiddleware.js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4275" y="2470546"/>
            <a:ext cx="2066850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64748B"/>
                </a:solidFill>
                <a:latin typeface="Aptos"/>
              </a:rPr>
              <a:t>Business Coordination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879" y="1563885"/>
            <a:ext cx="180275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CLIENT TIERS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675" y="1811535"/>
            <a:ext cx="1598414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334155"/>
                </a:solidFill>
                <a:latin typeface="Aptos"/>
              </a:rPr>
              <a:t>• Postman / ThunderClient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React / Web Apps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Mobile Frontends</a:t>
            </a:r>
            <a:r>
              <a:t>
</a:t>
            </a:r>
            <a:r>
              <a:rPr sz="900" b="0" i="0" u="none">
                <a:solidFill>
                  <a:srgbClr val="334155"/>
                </a:solidFill>
                <a:latin typeface="Aptos"/>
              </a:rPr>
              <a:t> • Support Dashboards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142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API GATEWAY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001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Express.js Server (:5000)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CORS Handler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JSON Body Parser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Centralized Error Wrapper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8355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SECURITY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2144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JWT Verification (Bearer)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Role-Based Guarding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Input Sanitization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Schema Pre-validators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5689" y="1554360"/>
            <a:ext cx="19906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ptos"/>
              </a:rPr>
              <a:t>CONTROLLERS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34275" y="1802010"/>
            <a:ext cx="1748730" cy="5863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155"/>
              </a:lnSpc>
            </a:pPr>
            <a:r>
              <a:rPr sz="825" b="0" i="0" u="none">
                <a:solidFill>
                  <a:srgbClr val="334155"/>
                </a:solidFill>
                <a:latin typeface="Aptos"/>
              </a:rPr>
              <a:t>• authController.js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faqController.js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aiController.js</a:t>
            </a:r>
            <a:r>
              <a:t>
</a:t>
            </a:r>
            <a:r>
              <a:rPr sz="825" b="0" i="0" u="none">
                <a:solidFill>
                  <a:srgbClr val="334155"/>
                </a:solidFill>
                <a:latin typeface="Aptos"/>
              </a:rPr>
              <a:t> • categoryController.js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78305" y="1478160"/>
            <a:ext cx="2040433" cy="1143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47857"/>
                </a:solidFill>
                <a:latin typeface="Aptos"/>
              </a:rPr>
              <a:t>GOOGLE GEMINI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78305" y="1592460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65F46"/>
                </a:solidFill>
                <a:latin typeface="Aptos"/>
              </a:rPr>
              <a:t>gemini-2.0-flash SDK (@google/genai)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78305" y="1944885"/>
            <a:ext cx="2040433" cy="114300"/>
          </a:xfrm>
          <a:prstGeom prst="rect">
            <a:avLst/>
          </a:prstGeom>
          <a:noFill/>
        </p:spPr>
        <p:txBody>
          <a:bodyPr wrap="none" lIns="9525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369A1"/>
                </a:solidFill>
                <a:latin typeface="Aptos"/>
              </a:rPr>
              <a:t>MONGODB &amp; MONGOOSE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8305" y="2059185"/>
            <a:ext cx="2040433" cy="104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075985"/>
                </a:solidFill>
                <a:latin typeface="Aptos"/>
              </a:rPr>
              <a:t>Users, FAQs, Categories collections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0806" y="500955"/>
            <a:ext cx="147399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578078"/>
            <a:ext cx="11277600" cy="898921"/>
          </a:xfrm>
          <a:prstGeom prst="roundRect">
            <a:avLst>
              <a:gd name="adj" fmla="val 8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200" y="1192410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2531268"/>
            <a:ext cx="5562600" cy="1186457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6467475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5578078"/>
            <a:ext cx="11277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5578078"/>
            <a:ext cx="38100" cy="89892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25275" y="5578078"/>
            <a:ext cx="9525" cy="89892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1192410"/>
            <a:ext cx="5562600" cy="285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10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2369343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1192410"/>
            <a:ext cx="5562600" cy="2857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25275" y="1192410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2531268"/>
            <a:ext cx="5562600" cy="2857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10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3708201"/>
            <a:ext cx="55626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2531268"/>
            <a:ext cx="5562600" cy="2857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725275" y="2531268"/>
            <a:ext cx="9525" cy="118645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" y="5720953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19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34125" y="1373385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19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34125" y="2712243"/>
            <a:ext cx="247650" cy="247650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5106" y="539055"/>
            <a:ext cx="134064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5 Primary Subsystems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1000"/>
            <a:ext cx="492007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FUNCTIONAL SPECIFICATIONS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2450"/>
            <a:ext cx="5166075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System Modules &amp; Core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987653"/>
            <a:ext cx="10944225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Validates categories against a strict enum schema: Technology, Education, Health, Banking, General. Global errorMiddleware.js sanitizes Mongoose CastErrors, duplicate key (11000) violations, and Gemini rate limits.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9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Implements /api/auth/register and /api/auth/login. Enforces 10-round bcrypt password salt hashing, unique email checks, and signs stateless JWT tokens for guarded route authorization.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4125" y="1697235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Operates via geminiService.js utilizing official @google/genai SDK. Provides real-time question answering (/api/ai/answer) and automated structured FAQ generation (/api/ai/generate-faq).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125" y="3036093"/>
            <a:ext cx="533400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Full CRUD operations across /api/faqs. Differentiates Public Readers from Creators and Administrators. Restricts PUT and DELETE operations strictly to original document authors.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4125" y="3036093"/>
            <a:ext cx="533400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Aptos"/>
              </a:rPr>
              <a:t>Exposes /api/faqs/search?q=query. Employs case-insensitive MongoDB regular expression indexing across question strings, answer bodies, and category tags to surface relevant support articles.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925" y="5720953"/>
            <a:ext cx="51435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0284C7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9650" y="5754290"/>
            <a:ext cx="4876586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Aptos"/>
              </a:rPr>
              <a:t>Category Enforcement &amp; Centralized Validation Engine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6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284C7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2025" y="1411485"/>
            <a:ext cx="320059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Authentication &amp; Security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1250" y="1373385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59669"/>
                </a:solidFill>
                <a:latin typeface="Aptos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7025" y="1411485"/>
            <a:ext cx="351528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Google Gemini AI Integration Module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0F172A"/>
                </a:solidFill>
                <a:latin typeface="Aptos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025" y="2750343"/>
            <a:ext cx="327833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FAQ Management &amp; RBAC Module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91250" y="2712243"/>
            <a:ext cx="53340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75" b="1" i="0" u="none">
                <a:solidFill>
                  <a:srgbClr val="7C3AED"/>
                </a:solidFill>
                <a:latin typeface="Aptos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7025" y="2750343"/>
            <a:ext cx="3190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Semantic &amp; Regex Search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030866" y="500955"/>
            <a:ext cx="1703933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953125"/>
            <a:ext cx="11277600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414396" y="6119812"/>
            <a:ext cx="1139428" cy="19050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6119812"/>
            <a:ext cx="238125" cy="1905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192410"/>
            <a:ext cx="11277600" cy="24955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92410"/>
          <a:ext cx="11268073" cy="2495550"/>
        </p:xfrm>
        <a:graphic>
          <a:graphicData uri="http://schemas.openxmlformats.org/drawingml/2006/table">
            <a:tbl>
              <a:tblPr/>
              <a:tblGrid>
                <a:gridCol w="24788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5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06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Technology / Library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Version / Spec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Architectural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1E293B"/>
                          </a:solidFill>
                          <a:latin typeface="Aptos"/>
                        </a:rPr>
                        <a:t>Implementation File 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Node.js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v20.x+ (LTS)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Runtime Execution Environment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package.json ("dev": "node --watch")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v4.19 / v5.2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RESTful API Router &amp; Middleware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src/app.js, src/server.js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MongoDB &amp; Mongoose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v8.3 / v9.7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Document ODM, Validation &amp; Schema Hooks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src/config/db.js, src/models/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Google Gen AI SDK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@google/genai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gemini-2.0-flash Question-Answering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src/services/geminiService.js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JSON Web Tokens (JWT)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jsonwebtoken ^9.0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Stateless Bearer Route Guarding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src/middleware/authMiddleware.js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43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Bcrypt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bcrypt ^5.1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Pre-save Password Salting (10 Rounds)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src/models/User.js (pre-save hook)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4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284C7"/>
                          </a:solidFill>
                          <a:latin typeface="Aptos"/>
                        </a:rPr>
                        <a:t>Postman &amp; ThunderClient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475569"/>
                          </a:solidFill>
                          <a:latin typeface="Aptos"/>
                        </a:rPr>
                        <a:t>v2.1 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334155"/>
                          </a:solidFill>
                          <a:latin typeface="Aptos"/>
                        </a:rPr>
                        <a:t>Automated Endpoint Verification Suite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64748B"/>
                          </a:solidFill>
                          <a:latin typeface="monospace"/>
                        </a:rPr>
                        <a:t>AI_FAQ_Assistant_API.postman_collection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145166" y="539055"/>
            <a:ext cx="1570583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Technology Mapping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1000"/>
            <a:ext cx="5567474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TECHNICAL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2450"/>
            <a:ext cx="5845847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Technologies &amp; Implementation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09646" y="6157912"/>
            <a:ext cx="104417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166534"/>
                </a:solidFill>
                <a:latin typeface="Aptos"/>
              </a:rPr>
              <a:t>VERIFIED IN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6076950"/>
            <a:ext cx="943086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Aptos"/>
              </a:rPr>
              <a:t>Source Implementation Pattern: Pre-Save Cryptographic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6219825"/>
            <a:ext cx="898177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15803D"/>
                </a:solidFill>
                <a:latin typeface="Aptos"/>
              </a:rPr>
              <a:t>Passwords are salted and hashed prior to write events inside User.js via usersSchema.pre('save'), preventing raw credential leakage.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06335" y="500955"/>
            <a:ext cx="1528464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6172200"/>
            <a:ext cx="11277600" cy="304800"/>
          </a:xfrm>
          <a:prstGeom prst="roundRect">
            <a:avLst>
              <a:gd name="adj" fmla="val 187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09937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62675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015412" y="1192410"/>
            <a:ext cx="2719387" cy="647700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1628" y="35394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1628" y="3815655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31628" y="409188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31628" y="4368105"/>
            <a:ext cx="349299" cy="17145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31628" y="4644330"/>
            <a:ext cx="425499" cy="17145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3568005"/>
            <a:ext cx="114300" cy="114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3844230"/>
            <a:ext cx="114300" cy="1143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120455"/>
            <a:ext cx="114300" cy="1143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527" y="4396680"/>
            <a:ext cx="11430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527" y="4672905"/>
            <a:ext cx="114300" cy="1143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3177480"/>
            <a:ext cx="11277600" cy="16954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3177480"/>
          <a:ext cx="11268072" cy="1908175"/>
        </p:xfrm>
        <a:graphic>
          <a:graphicData uri="http://schemas.openxmlformats.org/drawingml/2006/table">
            <a:tbl>
              <a:tblPr/>
              <a:tblGrid>
                <a:gridCol w="24553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3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3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8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Test Endpoint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Status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Observed System Response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E293B"/>
                          </a:solidFill>
                          <a:latin typeface="Aptos"/>
                        </a:rPr>
                        <a:t>Verification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User registered successfully; salted bcrypt token returned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/api/auth/login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Valid credentials verify; signed Bearer JWT token issued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201 Created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Category validated against enum; createdBy linked to user ObjectId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/api/faqs/search?q=node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Multi-field regex search retrieves matching records with view 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575"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/api/ai/generate-faq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200 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 u="none">
                          <a:solidFill>
                            <a:srgbClr val="334155"/>
                          </a:solidFill>
                          <a:latin typeface="Aptos"/>
                        </a:rPr>
                        <a:t>Google Gemini generates structured Question + Answer schema pair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2286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0320635" y="539055"/>
            <a:ext cx="1395114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Integration Test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1000"/>
            <a:ext cx="6547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EMPIRICAL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52450"/>
            <a:ext cx="6875078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Test Execution Results &amp; Output Verification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075" y="6257925"/>
            <a:ext cx="681949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Duplicate Registration Protection: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POST duplicate email correctly rejected with Status 400 Bad Request.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171" y="6257925"/>
            <a:ext cx="4631828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62" b="1" i="0" u="none">
                <a:solidFill>
                  <a:srgbClr val="475569"/>
                </a:solidFill>
                <a:latin typeface="Aptos"/>
              </a:rPr>
              <a:t>Error Handling:</a:t>
            </a:r>
            <a:r>
              <a:rPr sz="862" b="0" i="0" u="none">
                <a:solidFill>
                  <a:srgbClr val="475569"/>
                </a:solidFill>
                <a:latin typeface="Aptos"/>
              </a:rPr>
              <a:t> Invalid ObjectIds trigger CastError handler returning status 400.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057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284C7"/>
                </a:solidFill>
                <a:latin typeface="Aptos"/>
              </a:rPr>
              <a:t>13 /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057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Integration Tests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4795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16A34A"/>
                </a:solidFill>
                <a:latin typeface="Aptos"/>
              </a:rPr>
              <a:t>201 Created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24795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Registration &amp; FAQ 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7532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7C3AED"/>
                </a:solidFill>
                <a:latin typeface="Aptos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7532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Bearer JWT Route Shielding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270" y="1316235"/>
            <a:ext cx="308967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D97706"/>
                </a:solidFill>
                <a:latin typeface="Aptos"/>
              </a:rPr>
              <a:t>&lt; 500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30270" y="1582935"/>
            <a:ext cx="3089671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4748B"/>
                </a:solidFill>
                <a:latin typeface="Aptos"/>
              </a:rPr>
              <a:t>Average Endpoint Response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8778" y="35584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8778" y="3834705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88778" y="411093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88778" y="4387155"/>
            <a:ext cx="3302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5803D"/>
                </a:solidFill>
                <a:latin typeface="Aptos"/>
              </a:rPr>
              <a:t>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88778" y="4663380"/>
            <a:ext cx="406449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E40AF"/>
                </a:solidFill>
                <a:latin typeface="Aptos"/>
              </a:rPr>
              <a:t>POST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69438" y="500955"/>
            <a:ext cx="1465361" cy="228600"/>
          </a:xfrm>
          <a:prstGeom prst="roundRect">
            <a:avLst>
              <a:gd name="adj" fmla="val 25000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800725"/>
            <a:ext cx="11277600" cy="676275"/>
          </a:xfrm>
          <a:prstGeom prst="roundRect">
            <a:avLst>
              <a:gd name="adj" fmla="val 1408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192410"/>
            <a:ext cx="5543550" cy="2457450"/>
          </a:xfrm>
          <a:prstGeom prst="roundRect">
            <a:avLst>
              <a:gd name="adj" fmla="val 387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627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10325" y="1373385"/>
            <a:ext cx="510540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20261" y="6005512"/>
            <a:ext cx="1583531" cy="266700"/>
          </a:xfrm>
          <a:prstGeom prst="roundRect">
            <a:avLst>
              <a:gd name="adj" fmla="val 21428"/>
            </a:avLst>
          </a:prstGeom>
          <a:solidFill>
            <a:srgbClr val="E0F2FE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99042" y="6005512"/>
            <a:ext cx="1297632" cy="266700"/>
          </a:xfrm>
          <a:prstGeom prst="roundRect">
            <a:avLst>
              <a:gd name="adj" fmla="val 21428"/>
            </a:avLst>
          </a:prstGeom>
          <a:solidFill>
            <a:srgbClr val="DCFCE7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27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10325" y="1621035"/>
            <a:ext cx="51054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" y="1373385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37338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383738" y="539055"/>
            <a:ext cx="133201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Aptos"/>
              </a:rPr>
              <a:t>Viva Evaluation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1000"/>
            <a:ext cx="533195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Aptos"/>
              </a:rPr>
              <a:t>PROJECT SUMMARY &amp;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52450"/>
            <a:ext cx="5598551" cy="2970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1" i="0" u="none">
                <a:solidFill>
                  <a:srgbClr val="0F172A"/>
                </a:solidFill>
                <a:latin typeface="Aptos"/>
              </a:rPr>
              <a:t>Conclusion &amp; Future Enhancements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325" y="5962650"/>
            <a:ext cx="3955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Aptos"/>
              </a:rPr>
              <a:t>THANK YOU!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325" y="6181725"/>
            <a:ext cx="376683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37" b="0" i="0" u="none">
                <a:solidFill>
                  <a:srgbClr val="64748B"/>
                </a:solidFill>
                <a:latin typeface="Aptos"/>
              </a:rPr>
              <a:t>Questions, Feedback &amp; Technical Inquiries are Welcome.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3611" y="6062662"/>
            <a:ext cx="141208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0369A1"/>
                </a:solidFill>
                <a:latin typeface="Aptos"/>
              </a:rPr>
              <a:t>BC</a:t>
            </a:r>
            <a:r>
              <a:rPr lang="en-IN" sz="900" b="1" i="0" u="none" dirty="0">
                <a:solidFill>
                  <a:srgbClr val="0369A1"/>
                </a:solidFill>
                <a:latin typeface="Aptos"/>
              </a:rPr>
              <a:t>A</a:t>
            </a:r>
            <a:r>
              <a:rPr sz="900" b="1" i="0" u="none" dirty="0">
                <a:solidFill>
                  <a:srgbClr val="0369A1"/>
                </a:solidFill>
                <a:latin typeface="Aptos"/>
              </a:rPr>
              <a:t> PROJECT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392" y="6062662"/>
            <a:ext cx="1126182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700" b="1" dirty="0">
                <a:solidFill>
                  <a:srgbClr val="15803D"/>
                </a:solidFill>
                <a:latin typeface="Aptos"/>
              </a:rPr>
              <a:t>PROJECT </a:t>
            </a:r>
            <a:r>
              <a:rPr sz="700" b="1" i="0" u="none" dirty="0">
                <a:solidFill>
                  <a:srgbClr val="15803D"/>
                </a:solidFill>
                <a:latin typeface="Aptos"/>
              </a:rPr>
              <a:t>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875" y="1373385"/>
            <a:ext cx="267162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Major Project Achievements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27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Full Backend Decoupling: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Developed an enterprise-grade RESTful API connecting Node.js, Express, MongoDB, and Gemini AI.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Generation: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Drastically cuts support authoring overhead by auto-synthesizing accurate FAQ pairs from raw topic seeds.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27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Defense-in-Depth Security: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Verified stateless route protection via JWT tokens, bcrypt salting, and schema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Clean Code Architecture: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Strictly respects MVC layering, centralized error handling, and robust status code dispatching.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7025" y="1373385"/>
            <a:ext cx="295661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Aptos"/>
              </a:rPr>
              <a:t>Future Enhancements &amp;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175438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Vector Embeddings &amp; RAG: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Upgrade regex matching to dense vector similarity search using MongoDB Atlas Vector Search.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0325" y="220206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Real-Time WebSocket Support: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Transition from REST polling to bidirectional Socket.IO streaming for instant chat assistance.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325" y="2649735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Multi-Language Localization: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Harness Gemini multilingual capabilities for auto-translating FAQs into regional languages.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325" y="3097410"/>
            <a:ext cx="520065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1" i="0" u="none">
                <a:solidFill>
                  <a:srgbClr val="0F172A"/>
                </a:solidFill>
                <a:latin typeface="Aptos"/>
              </a:rPr>
              <a:t>Automated Analytics Dashboard:</a:t>
            </a:r>
            <a:r>
              <a:rPr sz="975" b="0" i="0" u="none">
                <a:solidFill>
                  <a:srgbClr val="334155"/>
                </a:solidFill>
                <a:latin typeface="Aptos"/>
              </a:rPr>
              <a:t> Build frontend metrics tracking helpfulness ratios and unaddressed support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1465</Words>
  <Application>Microsoft Office PowerPoint</Application>
  <PresentationFormat>Widescreen</PresentationFormat>
  <Paragraphs>211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swathidesigan</dc:creator>
  <cp:keywords/>
  <dc:description>generated using python-pptx</dc:description>
  <cp:lastModifiedBy>Swathi desigan</cp:lastModifiedBy>
  <cp:revision>10</cp:revision>
  <dcterms:created xsi:type="dcterms:W3CDTF">2013-01-27T09:14:16Z</dcterms:created>
  <dcterms:modified xsi:type="dcterms:W3CDTF">2026-09-30T12:45:14Z</dcterms:modified>
  <cp:category/>
</cp:coreProperties>
</file>